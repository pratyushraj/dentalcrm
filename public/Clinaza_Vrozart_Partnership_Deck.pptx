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2A8A0"/>
                </a:solidFill>
              </a:defRPr>
            </a:pPr>
            <a:r>
              <a:t>PARTNERSHIP OPPORTUNITY WITH VROZART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2450"/>
                </a:solidFill>
              </a:defRPr>
            </a:pPr>
            <a:r>
              <a:t>Clinaza</a:t>
            </a:r>
          </a:p>
          <a:p>
            <a:pPr>
              <a:defRPr sz="3200" b="1">
                <a:solidFill>
                  <a:srgbClr val="0867E8"/>
                </a:solidFill>
              </a:defRPr>
            </a:pPr>
            <a:r>
              <a:t>"EMI for Better Health"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Healthcare financing infrastructure for clinics and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Strategic Deck for CEO &amp; Senior Leadership Team · Vrozart × Clinaza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01 / MARKET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450"/>
                </a:solidFill>
              </a:defRPr>
            </a:pPr>
            <a:r>
              <a:t>The Healthcare Affordability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67E8"/>
                </a:solidFill>
              </a:defRPr>
            </a:pPr>
            <a:r>
              <a:t>01</a:t>
            </a:r>
          </a:p>
          <a:p>
            <a:pPr>
              <a:spcBef>
                <a:spcPts val="1400"/>
              </a:spcBef>
              <a:defRPr sz="1600" b="1">
                <a:solidFill>
                  <a:srgbClr val="0B2450"/>
                </a:solidFill>
              </a:defRPr>
            </a:pPr>
            <a:r>
              <a:t>Patients Defer Care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Planned dental procedures (implants, aligners, crowns) require ₹30,000 to ₹3,00,000 upfront, forcing patients to delay or reject treatment.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67E8"/>
                </a:solidFill>
              </a:defRPr>
            </a:pPr>
            <a:r>
              <a:t>02</a:t>
            </a:r>
          </a:p>
          <a:p>
            <a:pPr>
              <a:spcBef>
                <a:spcPts val="1400"/>
              </a:spcBef>
              <a:defRPr sz="1600" b="1">
                <a:solidFill>
                  <a:srgbClr val="0B2450"/>
                </a:solidFill>
              </a:defRPr>
            </a:pPr>
            <a:r>
              <a:t>Clinics Lose Conversions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Doctors spend consultation time diagnosing, only to lose treatment acceptance at the front desk when patients cannot pay lump-sum.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67E8"/>
                </a:solidFill>
              </a:defRPr>
            </a:pPr>
            <a:r>
              <a:t>03</a:t>
            </a:r>
          </a:p>
          <a:p>
            <a:pPr>
              <a:spcBef>
                <a:spcPts val="1400"/>
              </a:spcBef>
              <a:defRPr sz="1600" b="1">
                <a:solidFill>
                  <a:srgbClr val="0B2450"/>
                </a:solidFill>
              </a:defRPr>
            </a:pPr>
            <a:r>
              <a:t>Lenders Lack Distribution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Banks &amp; NBFCs have capital but lack point-of-care digital origination at the doctor's desk to acquire high-intent healthcare credit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02 / OUR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450"/>
                </a:solidFill>
              </a:defRPr>
            </a:pPr>
            <a:r>
              <a:t>The Clinaza Operating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STEP 01</a:t>
            </a:r>
          </a:p>
          <a:p>
            <a:pPr>
              <a:defRPr sz="1300" b="1">
                <a:solidFill>
                  <a:srgbClr val="0B2450"/>
                </a:solidFill>
              </a:defRPr>
            </a:pPr>
            <a:r>
              <a:t>Doctor Consultation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Treatment Plan 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STEP 02</a:t>
            </a:r>
          </a:p>
          <a:p>
            <a:pPr>
              <a:defRPr sz="1300" b="1">
                <a:solidFill>
                  <a:srgbClr val="0B2450"/>
                </a:solidFill>
              </a:defRPr>
            </a:pPr>
            <a:r>
              <a:t>Clinaza Pre-Check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2-Min Digital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STEP 03</a:t>
            </a:r>
          </a:p>
          <a:p>
            <a:pPr>
              <a:defRPr sz="1300" b="1">
                <a:solidFill>
                  <a:srgbClr val="0B2450"/>
                </a:solidFill>
              </a:defRPr>
            </a:pPr>
            <a:r>
              <a:t>Lender API Underwriting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Sanction &amp; Agreement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STEP 04</a:t>
            </a:r>
          </a:p>
          <a:p>
            <a:pPr>
              <a:defRPr sz="1300" b="1">
                <a:solidFill>
                  <a:srgbClr val="0B2450"/>
                </a:solidFill>
              </a:defRPr>
            </a:pPr>
            <a:r>
              <a:t>Disbursement &amp; EMI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Treatment Starts Immediately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31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A8A0"/>
                </a:solidFill>
              </a:defRPr>
            </a:pPr>
            <a:r>
              <a:t>STRICT OPERATIONAL BOUNDARIES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Clinaza does NOT become the lender. We do not take credit risk or hold a balance sheet. Regulated lending partners (Banks/NBFCs) handle credit policy, underwriting, sanction, loan agreement, and servicing. Clinaza focuses purely on clinic distribution, software infrastructure, and patient financing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03 / EARLY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450"/>
                </a:solidFill>
              </a:defRPr>
            </a:pPr>
            <a:r>
              <a:t>Current Network 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EEF2FF"/>
          </a:solidFill>
          <a:ln>
            <a:solidFill>
              <a:srgbClr val="08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867E8"/>
                </a:solidFill>
              </a:defRPr>
            </a:pPr>
            <a:r>
              <a:t>20+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0B2450"/>
                </a:solidFill>
              </a:defRPr>
            </a:pPr>
            <a:r>
              <a:t>Clinics Onboarded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Active dental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926080"/>
          </a:xfrm>
          <a:prstGeom prst="roundRect">
            <a:avLst/>
          </a:prstGeom>
          <a:solidFill>
            <a:srgbClr val="EEF2FF"/>
          </a:solidFill>
          <a:ln>
            <a:solidFill>
              <a:srgbClr val="08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1945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867E8"/>
                </a:solidFill>
              </a:defRPr>
            </a:pPr>
            <a:r>
              <a:t>Expanding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0B2450"/>
                </a:solidFill>
              </a:defRPr>
            </a:pPr>
            <a:r>
              <a:t>Clinic Network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Active doctor onboarding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926080"/>
          </a:xfrm>
          <a:prstGeom prst="roundRect">
            <a:avLst/>
          </a:prstGeom>
          <a:solidFill>
            <a:srgbClr val="EEF2FF"/>
          </a:solidFill>
          <a:ln>
            <a:solidFill>
              <a:srgbClr val="08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867E8"/>
                </a:solidFill>
              </a:defRPr>
            </a:pPr>
            <a:r>
              <a:t>Incoming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0B2450"/>
                </a:solidFill>
              </a:defRPr>
            </a:pPr>
            <a:r>
              <a:t>Patient Loan Requests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Active pre-check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2926080"/>
          </a:xfrm>
          <a:prstGeom prst="roundRect">
            <a:avLst/>
          </a:prstGeom>
          <a:solidFill>
            <a:srgbClr val="EEF2FF"/>
          </a:solidFill>
          <a:ln>
            <a:solidFill>
              <a:srgbClr val="08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1945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867E8"/>
                </a:solidFill>
              </a:defRPr>
            </a:pPr>
            <a:r>
              <a:t>₹30K–₹3L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0B2450"/>
                </a:solidFill>
              </a:defRPr>
            </a:pPr>
            <a:r>
              <a:t>Ticket Requirement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Planned dental procedures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2450"/>
                </a:solidFill>
              </a:defRPr>
            </a:pPr>
            <a:r>
              <a:t>INITIAL FOCUS VERTICAL: DENTAL CARE PROCEDURES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Primary use cases: Implants, clear aligners, ceramic braces, crowns, and full mouth rehabilitations.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04 /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450"/>
                </a:solidFill>
              </a:defRPr>
            </a:pPr>
            <a:r>
              <a:t>The Healthcare Distribution Flywheel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867E8"/>
                </a:solidFill>
              </a:defRPr>
            </a:pPr>
            <a:r>
              <a:t>More Onboarded Clinics  ➔  More Patient EMI Requests  ➔  More Lender Approvals  ➔  Better Conversion  ➔  Scale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450"/>
                </a:solidFill>
              </a:defRPr>
            </a:pPr>
            <a:r>
              <a:t>Point-of-Care Advantage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Financing intent is captured directly inside the consultation room when the treatment decision is made — yielding higher conversion than generic digital personal loans.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2062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450"/>
                </a:solidFill>
              </a:defRPr>
            </a:pPr>
            <a:r>
              <a:t>Scalable Distribution Layer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Clinaza standardizes clinic onboarding and digital pre-checks, allowing regulated lenders to access thousands of doctors through a single infrastructure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2A8A0"/>
                </a:solidFill>
              </a:defRPr>
            </a:pPr>
            <a:r>
              <a:t>05 / STRATEGIC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We Are Seeking from Vrozart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A8A0"/>
                </a:solidFill>
              </a:defRPr>
            </a:pPr>
            <a:r>
              <a:t>Lending Partner Access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Introductions to Banks, NBFCs &amp; capital partners for ₹30K–₹3L tickets.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A8A0"/>
                </a:solidFill>
              </a:defRPr>
            </a:pPr>
            <a:r>
              <a:t>Suitable Credit Products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Structuring personal loan / healthcare EMI products fitting patient profiles.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A8A0"/>
                </a:solidFill>
              </a:defRPr>
            </a:pPr>
            <a:r>
              <a:t>API &amp; Tech Infrastructure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Co-building or leveraging existing embedded finance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A8A0"/>
                </a:solidFill>
              </a:defRPr>
            </a:pPr>
            <a:r>
              <a:t>Underwriting Guidance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Expertise on credit policy, bureau checks &amp; risk boundaries.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749039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9319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A8A0"/>
                </a:solidFill>
              </a:defRPr>
            </a:pPr>
            <a:r>
              <a:t>Compliance &amp; Workflow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Guidance on digital lending compliance (LSP / FLDG / RBI rules).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749039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93191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A8A0"/>
                </a:solidFill>
              </a:defRPr>
            </a:pPr>
            <a:r>
              <a:t>Strategic Mentorship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Founder guidance on scaling a regulated lending ecosystem.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06 / TECH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450"/>
                </a:solidFill>
              </a:defRPr>
            </a:pPr>
            <a:r>
              <a:t>Developer-Led Integration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67E8"/>
                </a:solidFill>
              </a:defRPr>
            </a:pPr>
            <a:r>
              <a:t>Clinic / Patient Application  ➔  KYC &amp; Consent  ➔  Lender API Engine  ➔  Bureau &amp; Sanction  ➔  eSign &amp; Disbursement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2286000"/>
          </a:xfrm>
          <a:prstGeom prst="roundRect">
            <a:avLst/>
          </a:prstGeom>
          <a:solidFill>
            <a:srgbClr val="EEF2FF"/>
          </a:solidFill>
          <a:ln>
            <a:solidFill>
              <a:srgbClr val="08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67E8"/>
                </a:solidFill>
              </a:defRPr>
            </a:pPr>
            <a:r>
              <a:t>DEVELOPER-LED INTEGRATION AGILITY</a:t>
            </a:r>
          </a:p>
          <a:p>
            <a:pPr>
              <a:spcBef>
                <a:spcPts val="800"/>
              </a:spcBef>
              <a:defRPr sz="1300">
                <a:solidFill>
                  <a:srgbClr val="0B2450"/>
                </a:solidFill>
              </a:defRPr>
            </a:pPr>
            <a:r>
              <a:t>Clinaza is developer-led. We can seamlessly integrate via REST APIs, webhooks, or SDKs to connect clinic front-desks directly into a lender's underwriting engine. We support real-time status sync back to doctors and patients.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07 / OPERATIONAL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450"/>
                </a:solidFill>
              </a:defRPr>
            </a:pPr>
            <a:r>
              <a:t>Clear Responsibility Division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867E8"/>
                </a:solidFill>
              </a:defRPr>
            </a:pPr>
            <a:r>
              <a:t>CLINAZA ROLE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20+ clinic network growth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Clinic onboarding &amp; support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Patient application journey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Technical API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A8A0"/>
                </a:solidFill>
              </a:defRPr>
            </a:pPr>
            <a:r>
              <a:t>LENDING PARTNER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Credit policy &amp; underwriting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Bureau check &amp; loan approval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Sanction &amp; loan agreement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Disbursement &amp; EMI servicing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450"/>
                </a:solidFill>
              </a:defRPr>
            </a:pPr>
            <a:r>
              <a:t>VROZART PARTNER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Lender introductions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Product structuring guidance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Finance ecosystem access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Strategic scale partnership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08 / MONETIZATION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450"/>
                </a:solidFill>
              </a:defRPr>
            </a:pPr>
            <a:r>
              <a:t>Commercial Models &amp;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67E8"/>
                </a:solidFill>
              </a:defRPr>
            </a:pPr>
            <a:r>
              <a:t>COMMERCIAL OPTIONS FOR DISCUSSION</a:t>
            </a:r>
          </a:p>
          <a:p>
            <a:pPr>
              <a:spcBef>
                <a:spcPts val="1200"/>
              </a:spcBef>
              <a:defRPr sz="1200" b="1">
                <a:solidFill>
                  <a:srgbClr val="0B2450"/>
                </a:solidFill>
              </a:defRPr>
            </a:pPr>
            <a:r>
              <a:t>01. Referral / Origination Fee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LSP origination fee per sanctioned or disbursed loan file.</a:t>
            </a:r>
          </a:p>
          <a:p>
            <a:pPr>
              <a:spcBef>
                <a:spcPts val="1200"/>
              </a:spcBef>
              <a:defRPr sz="1200" b="1">
                <a:solidFill>
                  <a:srgbClr val="0B2450"/>
                </a:solidFill>
              </a:defRPr>
            </a:pPr>
            <a:r>
              <a:t>02. Disbursement Revenue Share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Percentage share on total monthly disbursed volume.</a:t>
            </a:r>
          </a:p>
          <a:p>
            <a:pPr>
              <a:spcBef>
                <a:spcPts val="1200"/>
              </a:spcBef>
              <a:defRPr sz="1200" b="1">
                <a:solidFill>
                  <a:srgbClr val="0B2450"/>
                </a:solidFill>
              </a:defRPr>
            </a:pPr>
            <a:r>
              <a:t>03. Strategic Joint Partnership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Co-building healthcare financing distribution with shared economics.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A8A0"/>
                </a:solidFill>
              </a:defRPr>
            </a:pPr>
            <a:r>
              <a:t>PATIENT &amp; CLINIC PRINCIPLES</a:t>
            </a:r>
          </a:p>
          <a:p>
            <a:pPr>
              <a:spcBef>
                <a:spcPts val="1400"/>
              </a:spcBef>
              <a:defRPr sz="2000" b="1">
                <a:solidFill>
                  <a:srgbClr val="FFFFFF"/>
                </a:solidFill>
              </a:defRPr>
            </a:pPr>
            <a:r>
              <a:t>₹0 Fee to Dental Clinics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Clinaza does NOT charge clinics any financing setup or subscription fee. The lender charges the borrower according to approved loan terms.</a:t>
            </a:r>
            <a:br/>
            <a:br/>
            <a:r>
              <a:t>Commercial arrangements between Clinaza and Vrozart / lending partners can be finalized upon mutual discussion.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67E8"/>
                </a:solidFill>
              </a:defRPr>
            </a:pPr>
            <a:r>
              <a:t>09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450"/>
                </a:solidFill>
              </a:defRPr>
            </a:pPr>
            <a:r>
              <a:t>Let's Build the Healthcare Financing Layer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67E8"/>
                </a:solidFill>
              </a:defRPr>
            </a:pPr>
            <a:r>
              <a:t>PROPOSED ACTION PLAN</a:t>
            </a:r>
          </a:p>
          <a:p>
            <a:pPr>
              <a:spcBef>
                <a:spcPts val="1000"/>
              </a:spcBef>
              <a:defRPr sz="1200">
                <a:solidFill>
                  <a:srgbClr val="0B2450"/>
                </a:solidFill>
              </a:defRPr>
            </a:pPr>
            <a:r>
              <a:t>1. Identify 1–2 suitable lending partners / NBFC channels</a:t>
            </a:r>
          </a:p>
          <a:p>
            <a:pPr>
              <a:spcBef>
                <a:spcPts val="1000"/>
              </a:spcBef>
              <a:defRPr sz="1200">
                <a:solidFill>
                  <a:srgbClr val="0B2450"/>
                </a:solidFill>
              </a:defRPr>
            </a:pPr>
            <a:r>
              <a:t>2. Evaluate Clinaza's 20+ clinic network pipeline &amp; demand</a:t>
            </a:r>
          </a:p>
          <a:p>
            <a:pPr>
              <a:spcBef>
                <a:spcPts val="1000"/>
              </a:spcBef>
              <a:defRPr sz="1200">
                <a:solidFill>
                  <a:srgbClr val="0B2450"/>
                </a:solidFill>
              </a:defRPr>
            </a:pPr>
            <a:r>
              <a:t>3. Define product eligibility for ₹30K–₹3L ticket sizes</a:t>
            </a:r>
          </a:p>
          <a:p>
            <a:pPr>
              <a:spcBef>
                <a:spcPts val="1000"/>
              </a:spcBef>
              <a:defRPr sz="1200">
                <a:solidFill>
                  <a:srgbClr val="0B2450"/>
                </a:solidFill>
              </a:defRPr>
            </a:pPr>
            <a:r>
              <a:t>4. Agree on a pilot starting with existing 20+ clinics</a:t>
            </a:r>
          </a:p>
          <a:p>
            <a:pPr>
              <a:spcBef>
                <a:spcPts val="1000"/>
              </a:spcBef>
              <a:defRPr sz="1200">
                <a:solidFill>
                  <a:srgbClr val="0B2450"/>
                </a:solidFill>
              </a:defRPr>
            </a:pPr>
            <a:r>
              <a:t>5. Scale conversion &amp; disbursement across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A8A0"/>
                </a:solidFill>
              </a:defRPr>
            </a:pPr>
            <a:r>
              <a:t>FOUNDER CLOSING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"Clinaza brings the healthcare distribution. We are looking for the right financial and strategic partner in Vrozart to build the lending layer."</a:t>
            </a:r>
          </a:p>
          <a:p>
            <a:br/>
            <a:pPr>
              <a:spcBef>
                <a:spcPts val="1400"/>
              </a:spcBef>
              <a:defRPr sz="1300">
                <a:solidFill>
                  <a:srgbClr val="BFDBFE"/>
                </a:solidFill>
              </a:defRPr>
            </a:pPr>
            <a:r>
              <a:t>Contact &amp; Web:</a:t>
            </a:r>
            <a:br/>
            <a:r>
              <a:t>• Website: clinaza.in</a:t>
            </a:r>
            <a:br/>
            <a:r>
              <a:t>• WhatsApp: 7292984244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